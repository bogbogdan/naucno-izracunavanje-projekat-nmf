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t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051560"/>
            <a:ext cx="4206240" cy="4206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8580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72B2"/>
                </a:solidFill>
                <a:latin typeface="Consolas"/>
              </a:rPr>
              <a:t>NAUČNO IZRAČUNAVANJE</a:t>
            </a:r>
            <a:r>
              <a:rPr sz="1300" b="0" i="0">
                <a:solidFill>
                  <a:srgbClr val="8A93A0"/>
                </a:solidFill>
                <a:latin typeface="Consolas"/>
              </a:rPr>
              <a:t>     PROJEKTNI RAD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69494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50" b="0" i="0">
                <a:solidFill>
                  <a:srgbClr val="14181D"/>
                </a:solidFill>
                <a:latin typeface="Georgia"/>
              </a:rPr>
              <a:t>Otkrivanje tema u korpusu vesti pomoću NMF faktorizacije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257800"/>
            <a:ext cx="10637215" cy="1143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440680"/>
            <a:ext cx="7223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626F"/>
                </a:solidFill>
                <a:latin typeface="Segoe UI"/>
              </a:rPr>
              <a:t>TF-IDF matrica sa bigramima, razložena sopstvenom implementacijom nenegativne matrične faktorizacije. Model ne dobija nijednu oznaku kategorije.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54406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81D"/>
                </a:solidFill>
                <a:latin typeface="Consolas"/>
              </a:rPr>
              <a:t>BOGDAN TOMIĆ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72B2"/>
                </a:solidFill>
                <a:latin typeface="Consolas"/>
              </a:rPr>
              <a:t>01</a:t>
            </a:r>
            <a:r>
              <a:rPr sz="1300" b="0" i="0">
                <a:solidFill>
                  <a:srgbClr val="8A93A0"/>
                </a:solidFill>
                <a:latin typeface="Consolas"/>
              </a:rPr>
              <a:t>   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4181D"/>
                </a:solidFill>
                <a:latin typeface="Georgia"/>
              </a:rPr>
              <a:t>Opis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9626F"/>
                </a:solidFill>
                <a:latin typeface="Segoe UI"/>
              </a:rPr>
              <a:t>Imamo 2.225 novinskih tekstova i pitanje o čemu se u njima piše. Ručno čitanje ne dolazi u obzir, a pretraga po ključnim rečima traži da unapred znamo šta tražimo.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4181D"/>
                </a:solidFill>
                <a:latin typeface="Segoe UI"/>
              </a:rPr>
              <a:t>ŠTA TRAŽIMO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0072B2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4181D"/>
                </a:solidFill>
                <a:latin typeface="Segoe UI"/>
              </a:rPr>
              <a:t>postupak koji sam izdvoji tematske celine iz korpusa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0072B2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4181D"/>
                </a:solidFill>
                <a:latin typeface="Segoe UI"/>
              </a:rPr>
              <a:t>za svaku temu listu reči koje je definišu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0072B2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4181D"/>
                </a:solidFill>
                <a:latin typeface="Segoe UI"/>
              </a:rPr>
              <a:t>za svaki dokument meru koliko pripada kojoj temi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2971800"/>
            <a:ext cx="5120640" cy="2514600"/>
          </a:xfrm>
          <a:prstGeom prst="rect">
            <a:avLst/>
          </a:prstGeom>
          <a:solidFill>
            <a:srgbClr val="E3EEF6"/>
          </a:solidFill>
          <a:ln w="9525">
            <a:solidFill>
              <a:srgbClr val="C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32004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4181D"/>
                </a:solidFill>
                <a:latin typeface="Segoe UI"/>
              </a:rPr>
              <a:t>NENADGLEDANO UČENJE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14181D"/>
                </a:solidFill>
                <a:latin typeface="Segoe UI"/>
              </a:rPr>
              <a:t>Nema ciljne promenljive. Imamo samo matricu dokument × token i tražimo njenu strukturu nižeg ranga.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9626F"/>
                </a:solidFill>
                <a:latin typeface="Segoe UI"/>
              </a:rPr>
              <a:t>Kategorije iz skupa podataka koriste se tek na kraju, kao nezavisna provera rezultata. U model ne ulaze.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0"/>
                </a:solidFill>
                <a:latin typeface="Consolas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72B2"/>
                </a:solidFill>
                <a:latin typeface="Consolas"/>
              </a:rPr>
              <a:t>02</a:t>
            </a:r>
            <a:r>
              <a:rPr sz="1300" b="0" i="0">
                <a:solidFill>
                  <a:srgbClr val="8A93A0"/>
                </a:solidFill>
                <a:latin typeface="Consolas"/>
              </a:rPr>
              <a:t>     METOD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4181D"/>
                </a:solidFill>
                <a:latin typeface="Georgia"/>
              </a:rPr>
              <a:t>Zašto NMF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4181D"/>
                </a:solidFill>
                <a:latin typeface="Cambria Math"/>
              </a:rPr>
              <a:t>V</a:t>
            </a:r>
            <a:r>
              <a:rPr sz="1400" b="0" i="0" baseline="-25000">
                <a:solidFill>
                  <a:srgbClr val="14181D"/>
                </a:solidFill>
                <a:latin typeface="Cambria Math"/>
              </a:rPr>
              <a:t>d,t</a:t>
            </a:r>
            <a:r>
              <a:rPr sz="2000" b="0" i="1">
                <a:solidFill>
                  <a:srgbClr val="14181D"/>
                </a:solidFill>
                <a:latin typeface="Cambria Math"/>
              </a:rPr>
              <a:t>  ≈  (W H)</a:t>
            </a:r>
            <a:r>
              <a:rPr sz="1400" b="0" i="0" baseline="-25000">
                <a:solidFill>
                  <a:srgbClr val="14181D"/>
                </a:solidFill>
                <a:latin typeface="Cambria Math"/>
              </a:rPr>
              <a:t>d,t</a:t>
            </a:r>
            <a:r>
              <a:rPr sz="1600" b="0" i="0">
                <a:solidFill>
                  <a:srgbClr val="59626F"/>
                </a:solidFill>
                <a:latin typeface="Segoe UI"/>
              </a:rPr>
              <a:t>          uz   </a:t>
            </a:r>
            <a:r>
              <a:rPr sz="2000" b="0" i="1">
                <a:solidFill>
                  <a:srgbClr val="14181D"/>
                </a:solidFill>
                <a:latin typeface="Cambria Math"/>
              </a:rPr>
              <a:t>W</a:t>
            </a:r>
            <a:r>
              <a:rPr sz="1400" b="0" i="0" baseline="-25000">
                <a:solidFill>
                  <a:srgbClr val="14181D"/>
                </a:solidFill>
                <a:latin typeface="Cambria Math"/>
              </a:rPr>
              <a:t>d,i</a:t>
            </a:r>
            <a:r>
              <a:rPr sz="2000" b="0" i="0">
                <a:solidFill>
                  <a:srgbClr val="14181D"/>
                </a:solidFill>
                <a:latin typeface="Cambria Math"/>
              </a:rPr>
              <a:t> ≥ 0,   </a:t>
            </a:r>
            <a:r>
              <a:rPr sz="2000" b="0" i="1">
                <a:solidFill>
                  <a:srgbClr val="14181D"/>
                </a:solidFill>
                <a:latin typeface="Cambria Math"/>
              </a:rPr>
              <a:t>H</a:t>
            </a:r>
            <a:r>
              <a:rPr sz="1400" b="0" i="0" baseline="-25000">
                <a:solidFill>
                  <a:srgbClr val="14181D"/>
                </a:solidFill>
                <a:latin typeface="Cambria Math"/>
              </a:rPr>
              <a:t>i,t</a:t>
            </a:r>
            <a:r>
              <a:rPr sz="2000" b="0" i="0">
                <a:solidFill>
                  <a:srgbClr val="14181D"/>
                </a:solidFill>
                <a:latin typeface="Cambria Math"/>
              </a:rPr>
              <a:t> ≥ 0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7480"/>
            <a:ext cx="50749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45262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4181D"/>
                </a:solidFill>
                <a:latin typeface="Segoe UI"/>
              </a:rPr>
              <a:t>SVD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181D"/>
                </a:solidFill>
                <a:latin typeface="Segoe UI"/>
              </a:rPr>
              <a:t>Daje najmanju grešku za dati rang, ali faktori sadrže i negativne vrednosti. Tema nastaje tako što se pozitivni i negativni doprinosi delimično poništavaju, pa se pojedinačna težina ne može čitati sama za sebe.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2697480"/>
            <a:ext cx="5120640" cy="2148840"/>
          </a:xfrm>
          <a:prstGeom prst="rect">
            <a:avLst/>
          </a:prstGeom>
          <a:solidFill>
            <a:srgbClr val="E3EEF6"/>
          </a:solidFill>
          <a:ln w="9525">
            <a:solidFill>
              <a:srgbClr val="C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926080"/>
            <a:ext cx="45720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4181D"/>
                </a:solidFill>
                <a:latin typeface="Segoe UI"/>
              </a:rPr>
              <a:t>NMF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181D"/>
                </a:solidFill>
                <a:latin typeface="Segoe UI"/>
              </a:rPr>
              <a:t>Svi elementi su nenegativni, pa je dokument zbir komponenti bez oduzimanja. Vrednost se čita kao mera prisustva: nula znači da komponente nema, veća vrednost da je izraženija.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6636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626F"/>
                </a:solidFill>
                <a:latin typeface="Segoe UI"/>
              </a:rPr>
              <a:t>Reč se u tekstu pojavljuje nula ili više puta, nikada negativan broj puta. Ograničenje koje NMF nameće odgovara podacima, pa se faktori mogu tumačiti kao teme.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0"/>
                </a:solidFill>
                <a:latin typeface="Consolas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72B2"/>
                </a:solidFill>
                <a:latin typeface="Consolas"/>
              </a:rPr>
              <a:t>03</a:t>
            </a:r>
            <a:r>
              <a:rPr sz="1300" b="0" i="0">
                <a:solidFill>
                  <a:srgbClr val="8A93A0"/>
                </a:solidFill>
                <a:latin typeface="Consolas"/>
              </a:rPr>
              <a:t>     PODACI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4181D"/>
                </a:solidFill>
                <a:latin typeface="Georgia"/>
              </a:rPr>
              <a:t>Skup podataka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KATEGORIJA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96596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DOKUMENATA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96596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UDEO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79" y="196596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MED. DUŽINA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79"/>
            <a:ext cx="6035040" cy="15240"/>
          </a:xfrm>
          <a:prstGeom prst="rect">
            <a:avLst/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228600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331720"/>
            <a:ext cx="137160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510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331720"/>
            <a:ext cx="100584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22,9%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79" y="2331720"/>
            <a:ext cx="137160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297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592324"/>
            <a:ext cx="6035040" cy="9525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74620"/>
            <a:ext cx="228600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entertainment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674620"/>
            <a:ext cx="137160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386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74620"/>
            <a:ext cx="100584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17,3%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79" y="2674620"/>
            <a:ext cx="137160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262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6035040" cy="9525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017520"/>
            <a:ext cx="228600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politics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017520"/>
            <a:ext cx="137160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417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017520"/>
            <a:ext cx="100584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18,7%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79" y="3017520"/>
            <a:ext cx="137160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439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278124"/>
            <a:ext cx="6035040" cy="9525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360420"/>
            <a:ext cx="228600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sport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3360420"/>
            <a:ext cx="137160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511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360420"/>
            <a:ext cx="100584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23,0%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79" y="3360420"/>
            <a:ext cx="137160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288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621024"/>
            <a:ext cx="6035040" cy="9525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703320"/>
            <a:ext cx="228600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tech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3703320"/>
            <a:ext cx="137160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401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703320"/>
            <a:ext cx="100584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18,0%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79" y="3703320"/>
            <a:ext cx="137160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447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3963924"/>
            <a:ext cx="6035040" cy="9525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046220"/>
            <a:ext cx="228600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181D"/>
                </a:solidFill>
                <a:latin typeface="Segoe UI"/>
              </a:rPr>
              <a:t>ukupno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4046220"/>
            <a:ext cx="137160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181D"/>
                </a:solidFill>
                <a:latin typeface="Segoe UI"/>
              </a:rPr>
              <a:t>2.225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046220"/>
            <a:ext cx="100584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046220"/>
            <a:ext cx="1371600" cy="260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332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1965960"/>
            <a:ext cx="44348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4181D"/>
                </a:solidFill>
                <a:latin typeface="Segoe UI"/>
              </a:rPr>
              <a:t>BBC NEWS, 2004. I 2005. GODINA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0" i="0">
                <a:solidFill>
                  <a:srgbClr val="14181D"/>
                </a:solidFill>
                <a:latin typeface="Segoe UI"/>
              </a:rPr>
              <a:t>Najveća i najmanja kategorija razlikuju se za manje od faktora 1,4. Nijedna tema ne dominira faktorizacijom zbog broja dokumenata, pa tačnost ima smisla kao mera. Nasumično pogađanje daje 20%.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9626F"/>
                </a:solidFill>
                <a:latin typeface="Segoe UI"/>
              </a:rPr>
              <a:t>Dužine idu od 89 do 4.432 reči. Zato TF-IDF vektore normalizujemo na jediničnu dužinu, da dužina teksta ne postane signal.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8064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9626F"/>
                </a:solidFill>
                <a:latin typeface="Segoe UI"/>
              </a:rPr>
              <a:t>Preuzeto Kaggle API-jem:  </a:t>
            </a:r>
            <a:r>
              <a:rPr sz="1300" b="0" i="0">
                <a:solidFill>
                  <a:srgbClr val="59626F"/>
                </a:solidFill>
                <a:latin typeface="Consolas"/>
              </a:rPr>
              <a:t>shivamkushwaha/bbc-full-text-document-classification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0"/>
                </a:solidFill>
                <a:latin typeface="Consolas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72B2"/>
                </a:solidFill>
                <a:latin typeface="Consolas"/>
              </a:rPr>
              <a:t>04</a:t>
            </a:r>
            <a:r>
              <a:rPr sz="1300" b="0" i="0">
                <a:solidFill>
                  <a:srgbClr val="8A93A0"/>
                </a:solidFill>
                <a:latin typeface="Consolas"/>
              </a:rPr>
              <a:t>     PREDOBRADA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4181D"/>
                </a:solidFill>
                <a:latin typeface="Georgia"/>
              </a:rPr>
              <a:t>Tokenizacija i bigrami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9626F"/>
                </a:solidFill>
                <a:latin typeface="Segoe UI"/>
              </a:rPr>
              <a:t>Model vreće reči gubi redosled. Bigrami vraćaju deo konteksta.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560320"/>
            <a:ext cx="25400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560320"/>
            <a:ext cx="3200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072B2"/>
                </a:solidFill>
                <a:latin typeface="Consolas"/>
              </a:rPr>
              <a:t>1. NORMALIZACIJA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mala slova i samo slovni nizovi, uz apostrof da country's ostane jedan token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2560320"/>
            <a:ext cx="25400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2560320"/>
            <a:ext cx="3200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072B2"/>
                </a:solidFill>
                <a:latin typeface="Consolas"/>
              </a:rPr>
              <a:t>2. FILTRIRANJE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izbacujemo stop-reči i sve kraće od 3 slova, da „of the“ ne postane najčešći bigram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0" y="2560320"/>
            <a:ext cx="25400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4152" y="2560320"/>
            <a:ext cx="3200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072B2"/>
                </a:solidFill>
                <a:latin typeface="Consolas"/>
              </a:rPr>
              <a:t>3. BIGRAMI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81D"/>
                </a:solidFill>
                <a:latin typeface="Segoe UI"/>
              </a:rPr>
              <a:t>susedne sadržajne reči spajamo u frazu koja u tekstu postoji doslovno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4181D"/>
                </a:solidFill>
                <a:latin typeface="Segoe UI"/>
              </a:rPr>
              <a:t>PRAVILO ZA FRAZE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072B2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jedna nesadržajna reč između se zadržava: </a:t>
            </a:r>
            <a:r>
              <a:rPr sz="1400" b="0" i="0">
                <a:solidFill>
                  <a:srgbClr val="14181D"/>
                </a:solidFill>
                <a:latin typeface="Consolas"/>
              </a:rPr>
              <a:t>bank of england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072B2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frazu prekida razmak od dve ili više reči, kao i tačka, zarez ili broj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59626F"/>
                </a:solidFill>
                <a:latin typeface="Segoe UI"/>
              </a:rPr>
              <a:t>U prvoj verziji je nastajalo </a:t>
            </a:r>
            <a:r>
              <a:rPr sz="1300" b="0" i="0">
                <a:solidFill>
                  <a:srgbClr val="59626F"/>
                </a:solidFill>
                <a:latin typeface="Consolas"/>
              </a:rPr>
              <a:t>bank england</a:t>
            </a:r>
            <a:r>
              <a:rPr sz="1350" b="0" i="0">
                <a:solidFill>
                  <a:srgbClr val="59626F"/>
                </a:solidFill>
                <a:latin typeface="Segoe UI"/>
              </a:rPr>
              <a:t>, niz koji u tekstu ne postoji.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97763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181D"/>
                </a:solidFill>
                <a:latin typeface="Segoe UI"/>
              </a:rPr>
              <a:t>PRIMER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9626F"/>
                </a:solidFill>
                <a:latin typeface="Segoe UI"/>
              </a:rPr>
              <a:t>„The Bank of England raised interest rates.“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800600"/>
            <a:ext cx="566928" cy="256032"/>
          </a:xfrm>
          <a:prstGeom prst="rect">
            <a:avLst/>
          </a:prstGeom>
          <a:solidFill>
            <a:srgbClr val="F1F3F5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81D"/>
                </a:solidFill>
                <a:latin typeface="Consolas"/>
              </a:rPr>
              <a:t>bank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4800600"/>
            <a:ext cx="1623060" cy="256032"/>
          </a:xfrm>
          <a:prstGeom prst="rect">
            <a:avLst/>
          </a:prstGeom>
          <a:solidFill>
            <a:srgbClr val="0072B2"/>
          </a:solidFill>
          <a:ln w="952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bank of england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9932" y="4800600"/>
            <a:ext cx="854964" cy="256032"/>
          </a:xfrm>
          <a:prstGeom prst="rect">
            <a:avLst/>
          </a:prstGeom>
          <a:solidFill>
            <a:srgbClr val="F1F3F5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81D"/>
                </a:solidFill>
                <a:latin typeface="Consolas"/>
              </a:rPr>
              <a:t>england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28048" y="4800600"/>
            <a:ext cx="1527048" cy="256032"/>
          </a:xfrm>
          <a:prstGeom prst="rect">
            <a:avLst/>
          </a:prstGeom>
          <a:solidFill>
            <a:srgbClr val="0072B2"/>
          </a:solidFill>
          <a:ln w="952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england raised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5129784"/>
            <a:ext cx="758952" cy="256032"/>
          </a:xfrm>
          <a:prstGeom prst="rect">
            <a:avLst/>
          </a:prstGeom>
          <a:solidFill>
            <a:srgbClr val="F1F3F5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81D"/>
                </a:solidFill>
                <a:latin typeface="Consolas"/>
              </a:rPr>
              <a:t>raised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95744" y="5129784"/>
            <a:ext cx="1623060" cy="256032"/>
          </a:xfrm>
          <a:prstGeom prst="rect">
            <a:avLst/>
          </a:prstGeom>
          <a:solidFill>
            <a:srgbClr val="0072B2"/>
          </a:solidFill>
          <a:ln w="952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raised interest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91956" y="5129784"/>
            <a:ext cx="950976" cy="256032"/>
          </a:xfrm>
          <a:prstGeom prst="rect">
            <a:avLst/>
          </a:prstGeom>
          <a:solidFill>
            <a:srgbClr val="F1F3F5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81D"/>
                </a:solidFill>
                <a:latin typeface="Consolas"/>
              </a:rPr>
              <a:t>interest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16084" y="5129784"/>
            <a:ext cx="1527048" cy="256032"/>
          </a:xfrm>
          <a:prstGeom prst="rect">
            <a:avLst/>
          </a:prstGeom>
          <a:solidFill>
            <a:srgbClr val="0072B2"/>
          </a:solidFill>
          <a:ln w="952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interest rates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5458968"/>
            <a:ext cx="662940" cy="256032"/>
          </a:xfrm>
          <a:prstGeom prst="rect">
            <a:avLst/>
          </a:prstGeom>
          <a:solidFill>
            <a:srgbClr val="F1F3F5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81D"/>
                </a:solidFill>
                <a:latin typeface="Consolas"/>
              </a:rPr>
              <a:t>rates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0"/>
                </a:solidFill>
                <a:latin typeface="Consolas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72B2"/>
                </a:solidFill>
                <a:latin typeface="Consolas"/>
              </a:rPr>
              <a:t>05</a:t>
            </a:r>
            <a:r>
              <a:rPr sz="1300" b="0" i="0">
                <a:solidFill>
                  <a:srgbClr val="8A93A0"/>
                </a:solidFill>
                <a:latin typeface="Consolas"/>
              </a:rPr>
              <a:t>     TF-IDF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4181D"/>
                </a:solidFill>
                <a:latin typeface="Georgia"/>
              </a:rPr>
              <a:t>TF-IDF matrica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14181D"/>
                </a:solidFill>
                <a:latin typeface="Cambria Math"/>
              </a:rPr>
              <a:t>idf(t) = ln( (1 + N) / (1 + df(t)) ) + 1</a:t>
            </a:r>
            <a:r>
              <a:rPr sz="1900" b="0" i="1">
                <a:solidFill>
                  <a:srgbClr val="14181D"/>
                </a:solidFill>
                <a:latin typeface="Cambria Math"/>
              </a:rPr>
              <a:t>            </a:t>
            </a:r>
            <a:r>
              <a:rPr sz="1900" b="0" i="1">
                <a:solidFill>
                  <a:srgbClr val="14181D"/>
                </a:solidFill>
                <a:latin typeface="Cambria Math"/>
              </a:rPr>
              <a:t>V</a:t>
            </a:r>
            <a:r>
              <a:rPr sz="1400" b="0" i="1" baseline="-25000">
                <a:solidFill>
                  <a:srgbClr val="14181D"/>
                </a:solidFill>
                <a:latin typeface="Cambria Math"/>
              </a:rPr>
              <a:t>d,t</a:t>
            </a:r>
            <a:r>
              <a:rPr sz="1900" b="0" i="1">
                <a:solidFill>
                  <a:srgbClr val="14181D"/>
                </a:solidFill>
                <a:latin typeface="Cambria Math"/>
              </a:rPr>
              <a:t> = tf(t, d) · idf(t)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4181D"/>
                </a:solidFill>
                <a:latin typeface="Segoe UI"/>
              </a:rPr>
              <a:t>ŠTA TEŽINA ZNAČI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0" i="0">
                <a:solidFill>
                  <a:srgbClr val="14181D"/>
                </a:solidFill>
                <a:latin typeface="Segoe UI"/>
              </a:rPr>
              <a:t>Težina raste sa učestalošću tokena u dokumentu, a opada sa brojem dokumenata u kojima se javlja. Token prisutan svuda dobija idf blizu 1, redak token dobija veliku težinu.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9626F"/>
                </a:solidFill>
                <a:latin typeface="Segoe UI"/>
              </a:rPr>
              <a:t>Zaglađena varijanta izbegava deljenje nulom i sprečava da idf padne tačno na nulu. Na kraju svaki red delimo njegovom L2 normom.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2651760"/>
            <a:ext cx="5120640" cy="2286000"/>
          </a:xfrm>
          <a:prstGeom prst="rect">
            <a:avLst/>
          </a:prstGeom>
          <a:solidFill>
            <a:srgbClr val="E3EEF6"/>
          </a:solidFill>
          <a:ln w="9525">
            <a:solidFill>
              <a:srgbClr val="C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88036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81D"/>
                </a:solidFill>
                <a:latin typeface="Segoe UI"/>
              </a:rPr>
              <a:t>PROVERA ISPRAVNOSTI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0" i="0">
                <a:solidFill>
                  <a:srgbClr val="0072B2"/>
                </a:solidFill>
                <a:latin typeface="Georgia"/>
              </a:rPr>
              <a:t>5,55 · 10</a:t>
            </a:r>
            <a:r>
              <a:rPr sz="1800" b="0" i="0" baseline="30000">
                <a:solidFill>
                  <a:srgbClr val="0072B2"/>
                </a:solidFill>
                <a:latin typeface="Georgia"/>
              </a:rPr>
              <a:t>-16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MAKS. RAZLIKA VS. SKLEARN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9626F"/>
                </a:solidFill>
                <a:latin typeface="Segoe UI"/>
              </a:rPr>
              <a:t>Isti rečnik i isti tokeni dati su TfidfVectorizer-u. Razlika je na nivou mašinske preciznosti float64, znači obe implementacije daju istu matricu.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0"/>
                </a:solidFill>
                <a:latin typeface="Consolas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72B2"/>
                </a:solidFill>
                <a:latin typeface="Consolas"/>
              </a:rPr>
              <a:t>06</a:t>
            </a:r>
            <a:r>
              <a:rPr sz="1300" b="0" i="0">
                <a:solidFill>
                  <a:srgbClr val="8A93A0"/>
                </a:solidFill>
                <a:latin typeface="Consolas"/>
              </a:rPr>
              <a:t>     DIMENZIONALNOST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4181D"/>
                </a:solidFill>
                <a:latin typeface="Georgia"/>
              </a:rPr>
              <a:t>Filtriranje rečnika i retka matrica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965960"/>
            <a:ext cx="3291840" cy="20320"/>
          </a:xfrm>
          <a:prstGeom prst="rect">
            <a:avLst/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0" i="0">
                <a:solidFill>
                  <a:srgbClr val="14181D"/>
                </a:solidFill>
                <a:latin typeface="Georgia"/>
              </a:rPr>
              <a:t>227.793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623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SIROVI REČNIK (TOKENA)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965960"/>
            <a:ext cx="3291840" cy="20320"/>
          </a:xfrm>
          <a:prstGeom prst="rect">
            <a:avLst/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075688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0" i="0">
                <a:solidFill>
                  <a:srgbClr val="14181D"/>
                </a:solidFill>
                <a:latin typeface="Georgia"/>
              </a:rPr>
              <a:t>75,8%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5623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JAVLJA SE U TAČNO 1 DOKUMENTU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1965960"/>
            <a:ext cx="3291840" cy="203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2075688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0" i="0">
                <a:solidFill>
                  <a:srgbClr val="0072B2"/>
                </a:solidFill>
                <a:latin typeface="Georgia"/>
              </a:rPr>
              <a:t>12.798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5623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POSLE FILTRIRANJA, 17,8 PUTA MANJE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49377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4181D"/>
                </a:solidFill>
                <a:latin typeface="Segoe UI"/>
              </a:rPr>
              <a:t>DVA PRAGA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072B2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4181D"/>
                </a:solidFill>
                <a:latin typeface="Consolas"/>
              </a:rPr>
              <a:t>MIN_DF = 5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: token mora biti u bar 5 dokumenata. Time otpadaju slučajne fraze, imena i tipografske greške.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072B2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4181D"/>
                </a:solidFill>
                <a:latin typeface="Consolas"/>
              </a:rPr>
              <a:t>MAX_DF = 0,5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: token sme biti u najviše 50% dokumenata. Time otpada ono što se javlja svuda i ne razlikuje kategorije.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429000"/>
            <a:ext cx="51206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657600"/>
            <a:ext cx="45720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4181D"/>
                </a:solidFill>
                <a:latin typeface="Segoe UI"/>
              </a:rPr>
              <a:t>RETKA REPREZENTACIJA (CSR)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4181D"/>
                </a:solidFill>
                <a:latin typeface="Segoe UI"/>
              </a:rPr>
              <a:t>Rečnik ima 8.946 unigrama i 3.852 bigrama. Matrica 2.225 × 12.798 ima 332.850 ne-nula elemenata, popunjenost je </a:t>
            </a:r>
            <a:r>
              <a:rPr sz="1500" b="1" i="0">
                <a:solidFill>
                  <a:srgbClr val="14181D"/>
                </a:solidFill>
                <a:latin typeface="Segoe UI"/>
              </a:rPr>
              <a:t>1,17%</a:t>
            </a:r>
            <a:r>
              <a:rPr sz="1500" b="0" i="0">
                <a:solidFill>
                  <a:srgbClr val="14181D"/>
                </a:solidFill>
                <a:latin typeface="Segoe UI"/>
              </a:rPr>
              <a:t>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9626F"/>
                </a:solidFill>
                <a:latin typeface="Segoe UI"/>
              </a:rPr>
              <a:t>Gusto zauzima 228 MB, retko 4,0 MB, 57 puta manje. Bez toga bi svaka iteracija NMF-a prolazila kroz 99% nula.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0"/>
                </a:solidFill>
                <a:latin typeface="Consolas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72B2"/>
                </a:solidFill>
                <a:latin typeface="Consolas"/>
              </a:rPr>
              <a:t>07</a:t>
            </a:r>
            <a:r>
              <a:rPr sz="1300" b="0" i="0">
                <a:solidFill>
                  <a:srgbClr val="8A93A0"/>
                </a:solidFill>
                <a:latin typeface="Consolas"/>
              </a:rPr>
              <a:t>     ALGORITAM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4181D"/>
                </a:solidFill>
                <a:latin typeface="Georgia"/>
              </a:rPr>
              <a:t>NMF preko multiplikativnih pravila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14181D"/>
                </a:solidFill>
                <a:latin typeface="Cambria Math"/>
              </a:rPr>
              <a:t>H ← H ⊙ (W</a:t>
            </a:r>
            <a:r>
              <a:rPr sz="1400" b="0" i="1" baseline="30000">
                <a:solidFill>
                  <a:srgbClr val="14181D"/>
                </a:solidFill>
                <a:latin typeface="Cambria Math"/>
              </a:rPr>
              <a:t>T</a:t>
            </a:r>
            <a:r>
              <a:rPr sz="1900" b="0" i="1">
                <a:solidFill>
                  <a:srgbClr val="14181D"/>
                </a:solidFill>
                <a:latin typeface="Cambria Math"/>
              </a:rPr>
              <a:t> V) / (W</a:t>
            </a:r>
            <a:r>
              <a:rPr sz="1400" b="0" i="1" baseline="30000">
                <a:solidFill>
                  <a:srgbClr val="14181D"/>
                </a:solidFill>
                <a:latin typeface="Cambria Math"/>
              </a:rPr>
              <a:t>T</a:t>
            </a:r>
            <a:r>
              <a:rPr sz="1900" b="0" i="1">
                <a:solidFill>
                  <a:srgbClr val="14181D"/>
                </a:solidFill>
                <a:latin typeface="Cambria Math"/>
              </a:rPr>
              <a:t> W H)</a:t>
            </a:r>
            <a:r>
              <a:rPr sz="1900" b="0" i="1">
                <a:solidFill>
                  <a:srgbClr val="14181D"/>
                </a:solidFill>
                <a:latin typeface="Cambria Math"/>
              </a:rPr>
              <a:t>                    </a:t>
            </a:r>
            <a:r>
              <a:rPr sz="1900" b="0" i="1">
                <a:solidFill>
                  <a:srgbClr val="14181D"/>
                </a:solidFill>
                <a:latin typeface="Cambria Math"/>
              </a:rPr>
              <a:t>W ← W ⊙ (V H</a:t>
            </a:r>
            <a:r>
              <a:rPr sz="1400" b="0" i="1" baseline="30000">
                <a:solidFill>
                  <a:srgbClr val="14181D"/>
                </a:solidFill>
                <a:latin typeface="Cambria Math"/>
              </a:rPr>
              <a:t>T</a:t>
            </a:r>
            <a:r>
              <a:rPr sz="1900" b="0" i="1">
                <a:solidFill>
                  <a:srgbClr val="14181D"/>
                </a:solidFill>
                <a:latin typeface="Cambria Math"/>
              </a:rPr>
              <a:t>) / (W H H</a:t>
            </a:r>
            <a:r>
              <a:rPr sz="1400" b="0" i="1" baseline="30000">
                <a:solidFill>
                  <a:srgbClr val="14181D"/>
                </a:solidFill>
                <a:latin typeface="Cambria Math"/>
              </a:rPr>
              <a:t>T</a:t>
            </a:r>
            <a:r>
              <a:rPr sz="1900" b="0" i="1">
                <a:solidFill>
                  <a:srgbClr val="14181D"/>
                </a:solidFill>
                <a:latin typeface="Cambria Math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4181D"/>
                </a:solidFill>
                <a:latin typeface="Segoe UI"/>
              </a:rPr>
              <a:t>TRI OPTIMIZACIJE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072B2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4181D"/>
                </a:solidFill>
                <a:latin typeface="Segoe UI"/>
              </a:rPr>
              <a:t>retka V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 ostaje retka kroz ceo postupak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072B2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4181D"/>
                </a:solidFill>
                <a:latin typeface="Segoe UI"/>
              </a:rPr>
              <a:t>redosled množenja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: (W</a:t>
            </a:r>
            <a:r>
              <a:rPr sz="1300" b="0" i="0" baseline="30000">
                <a:solidFill>
                  <a:srgbClr val="14181D"/>
                </a:solidFill>
                <a:latin typeface="Segoe UI"/>
              </a:rPr>
              <a:t>T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W)H umesto W</a:t>
            </a:r>
            <a:r>
              <a:rPr sz="1300" b="0" i="0" baseline="30000">
                <a:solidFill>
                  <a:srgbClr val="14181D"/>
                </a:solidFill>
                <a:latin typeface="Segoe UI"/>
              </a:rPr>
              <a:t>T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(WH), tako da se gusta matrica WH veličine korpusa nikada ne formira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072B2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4181D"/>
                </a:solidFill>
                <a:latin typeface="Segoe UI"/>
              </a:rPr>
              <a:t>greška preko traga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: ||V − WH|| računamo iz ||V||</a:t>
            </a:r>
            <a:r>
              <a:rPr sz="1050" b="0" i="0" baseline="30000">
                <a:solidFill>
                  <a:srgbClr val="14181D"/>
                </a:solidFill>
                <a:latin typeface="Segoe UI"/>
              </a:rPr>
              <a:t>2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, W·(VH</a:t>
            </a:r>
            <a:r>
              <a:rPr sz="1300" b="0" i="0" baseline="30000">
                <a:solidFill>
                  <a:srgbClr val="14181D"/>
                </a:solidFill>
                <a:latin typeface="Segoe UI"/>
              </a:rPr>
              <a:t>T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) i (W</a:t>
            </a:r>
            <a:r>
              <a:rPr sz="1300" b="0" i="0" baseline="30000">
                <a:solidFill>
                  <a:srgbClr val="14181D"/>
                </a:solidFill>
                <a:latin typeface="Segoe UI"/>
              </a:rPr>
              <a:t>T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W)·(HH</a:t>
            </a:r>
            <a:r>
              <a:rPr sz="1300" b="0" i="0" baseline="30000">
                <a:solidFill>
                  <a:srgbClr val="14181D"/>
                </a:solidFill>
                <a:latin typeface="Segoe UI"/>
              </a:rPr>
              <a:t>T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), bez formiranja same razlike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69748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4181D"/>
                </a:solidFill>
                <a:latin typeface="Segoe UI"/>
              </a:rPr>
              <a:t>KONVERGENCIJA I OSETLJIVOST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181D"/>
                </a:solidFill>
                <a:latin typeface="Segoe UI"/>
              </a:rPr>
              <a:t>Šest pokretanja sa različitim semenima. Staje kad se relativna greška u dva uzastopna merenja promeni za manje od </a:t>
            </a:r>
            <a:r>
              <a:rPr sz="1400" b="0" i="0">
                <a:solidFill>
                  <a:srgbClr val="14181D"/>
                </a:solidFill>
                <a:latin typeface="Consolas"/>
              </a:rPr>
              <a:t>tol = 1e-6</a:t>
            </a:r>
            <a:r>
              <a:rPr sz="1500" b="0" i="0">
                <a:solidFill>
                  <a:srgbClr val="14181D"/>
                </a:solidFill>
                <a:latin typeface="Segoe UI"/>
              </a:rPr>
              <a:t>. Sve krive monotono opadaju, kako i garantuju Lee-Seung pravila.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4160520"/>
            <a:ext cx="5120640" cy="1508760"/>
          </a:xfrm>
          <a:prstGeom prst="rect">
            <a:avLst/>
          </a:prstGeom>
          <a:solidFill>
            <a:srgbClr val="FBF0DC"/>
          </a:solidFill>
          <a:ln w="9525">
            <a:solidFill>
              <a:srgbClr val="EEDC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4370832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81D"/>
                </a:solidFill>
                <a:latin typeface="Segoe UI"/>
              </a:rPr>
              <a:t>Seme 0 staje na 0,97153 i daje </a:t>
            </a:r>
            <a:r>
              <a:rPr sz="1350" b="1" i="0">
                <a:solidFill>
                  <a:srgbClr val="14181D"/>
                </a:solidFill>
                <a:latin typeface="Segoe UI"/>
              </a:rPr>
              <a:t>68,4%</a:t>
            </a:r>
            <a:r>
              <a:rPr sz="1350" b="0" i="0">
                <a:solidFill>
                  <a:srgbClr val="14181D"/>
                </a:solidFill>
                <a:latin typeface="Segoe UI"/>
              </a:rPr>
              <a:t> tačnosti. Ostalih pet staju na 0,97000 i daju između </a:t>
            </a:r>
            <a:r>
              <a:rPr sz="1350" b="1" i="0">
                <a:solidFill>
                  <a:srgbClr val="14181D"/>
                </a:solidFill>
                <a:latin typeface="Segoe UI"/>
              </a:rPr>
              <a:t>93,2%</a:t>
            </a:r>
            <a:r>
              <a:rPr sz="1350" b="0" i="0">
                <a:solidFill>
                  <a:srgbClr val="14181D"/>
                </a:solidFill>
                <a:latin typeface="Segoe UI"/>
              </a:rPr>
              <a:t> i </a:t>
            </a:r>
            <a:r>
              <a:rPr sz="1350" b="1" i="0">
                <a:solidFill>
                  <a:srgbClr val="14181D"/>
                </a:solidFill>
                <a:latin typeface="Segoe UI"/>
              </a:rPr>
              <a:t>93,6%</a:t>
            </a:r>
            <a:r>
              <a:rPr sz="1350" b="0" i="0">
                <a:solidFill>
                  <a:srgbClr val="14181D"/>
                </a:solidFill>
                <a:latin typeface="Segoe UI"/>
              </a:rPr>
              <a:t>. Greška je skoro ista, a podela bitno drugačija, pa se algoritam pokreće više puta i uzima se najbolje pokretanje.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0"/>
                </a:solidFill>
                <a:latin typeface="Consolas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72B2"/>
                </a:solidFill>
                <a:latin typeface="Consolas"/>
              </a:rPr>
              <a:t>08</a:t>
            </a:r>
            <a:r>
              <a:rPr sz="1300" b="0" i="0">
                <a:solidFill>
                  <a:srgbClr val="8A93A0"/>
                </a:solidFill>
                <a:latin typeface="Consolas"/>
              </a:rPr>
              <a:t>     REZULTAT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4181D"/>
                </a:solidFill>
                <a:latin typeface="Georgia"/>
              </a:rPr>
              <a:t>Otkrivene teme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965960"/>
            <a:ext cx="1944563" cy="3048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21408"/>
            <a:ext cx="194456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TEMA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4181D"/>
                </a:solidFill>
                <a:latin typeface="Georgia"/>
              </a:rPr>
              <a:t>tech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4181D"/>
                </a:solidFill>
                <a:latin typeface="Segoe UI"/>
              </a:rPr>
              <a:t>mobile · people · music · technology · phone · digital · users · broadband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0403" y="1965960"/>
            <a:ext cx="1944563" cy="3048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50403" y="2121408"/>
            <a:ext cx="194456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TEMA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4181D"/>
                </a:solidFill>
                <a:latin typeface="Georgia"/>
              </a:rPr>
              <a:t>business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4181D"/>
                </a:solidFill>
                <a:latin typeface="Segoe UI"/>
              </a:rPr>
              <a:t>us · growth · economy · bank · oil · sales · market · prices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3566" y="1965960"/>
            <a:ext cx="1944563" cy="3048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3566" y="2121408"/>
            <a:ext cx="194456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TEMA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4181D"/>
                </a:solidFill>
                <a:latin typeface="Georgia"/>
              </a:rPr>
              <a:t>politics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4181D"/>
                </a:solidFill>
                <a:latin typeface="Segoe UI"/>
              </a:rPr>
              <a:t>labour · election · blair · brown · party · government · tax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72B2"/>
                </a:solidFill>
                <a:latin typeface="Consolas"/>
              </a:rPr>
              <a:t>prime minister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96729" y="1965960"/>
            <a:ext cx="1944563" cy="3048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729" y="2121408"/>
            <a:ext cx="194456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TEMA 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4181D"/>
                </a:solidFill>
                <a:latin typeface="Georgia"/>
              </a:rPr>
              <a:t>entertainment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4181D"/>
                </a:solidFill>
                <a:latin typeface="Segoe UI"/>
              </a:rPr>
              <a:t>film · best · awards · award · actor · oscar · festival · actress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9892" y="1965960"/>
            <a:ext cx="1944563" cy="3048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9892" y="2121408"/>
            <a:ext cx="194456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TEMA 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4181D"/>
                </a:solidFill>
                <a:latin typeface="Georgia"/>
              </a:rPr>
              <a:t>sport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4181D"/>
                </a:solidFill>
                <a:latin typeface="Segoe UI"/>
              </a:rPr>
              <a:t>england · game · win · wales · ireland · cup · team ·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348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9626F"/>
                </a:solidFill>
                <a:latin typeface="Segoe UI"/>
              </a:rPr>
              <a:t>Imena kategorija dopisana su posle faktorizacije. U matricu V nije ušao nijedan naziv foldera, teme su nastale samo iz raspodele reči.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94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9626F"/>
                </a:solidFill>
                <a:latin typeface="Segoe UI"/>
              </a:rPr>
              <a:t>Redosled tema zavisi od inicijalizacije. Među prvih 12 tokena teme politics nalazi se i bigram </a:t>
            </a:r>
            <a:r>
              <a:rPr sz="1300" b="0" i="0">
                <a:solidFill>
                  <a:srgbClr val="59626F"/>
                </a:solidFill>
                <a:latin typeface="Consolas"/>
              </a:rPr>
              <a:t>prime minister</a:t>
            </a:r>
            <a:r>
              <a:rPr sz="1350" b="0" i="0">
                <a:solidFill>
                  <a:srgbClr val="59626F"/>
                </a:solidFill>
                <a:latin typeface="Segoe UI"/>
              </a:rPr>
              <a:t>. Reč </a:t>
            </a:r>
            <a:r>
              <a:rPr sz="1300" b="0" i="0">
                <a:solidFill>
                  <a:srgbClr val="59626F"/>
                </a:solidFill>
                <a:latin typeface="Consolas"/>
              </a:rPr>
              <a:t>minister</a:t>
            </a:r>
            <a:r>
              <a:rPr sz="1350" b="0" i="0">
                <a:solidFill>
                  <a:srgbClr val="59626F"/>
                </a:solidFill>
                <a:latin typeface="Segoe UI"/>
              </a:rPr>
              <a:t> sama može pripadati i biznisu i politici, dok fraza to razrešava. Bigrami najviše dolaze do izražaja u semantičkoj pretrazi.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0"/>
                </a:solidFill>
                <a:latin typeface="Consolas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72B2"/>
                </a:solidFill>
                <a:latin typeface="Consolas"/>
              </a:rPr>
              <a:t>09</a:t>
            </a:r>
            <a:r>
              <a:rPr sz="1300" b="0" i="0">
                <a:solidFill>
                  <a:srgbClr val="8A93A0"/>
                </a:solidFill>
                <a:latin typeface="Consolas"/>
              </a:rPr>
              <a:t>     EVALUACIJA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4181D"/>
                </a:solidFill>
                <a:latin typeface="Georgia"/>
              </a:rPr>
              <a:t>Evaluacija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965960"/>
            <a:ext cx="2331720" cy="203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0072B2"/>
                </a:solidFill>
                <a:latin typeface="Georgia"/>
              </a:rPr>
              <a:t>93,4%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155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TAČNOST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965960"/>
            <a:ext cx="2331720" cy="20320"/>
          </a:xfrm>
          <a:prstGeom prst="rect">
            <a:avLst/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075688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14181D"/>
                </a:solidFill>
                <a:latin typeface="Georgia"/>
              </a:rPr>
              <a:t>0,81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51155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NMI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200400"/>
            <a:ext cx="2331720" cy="20320"/>
          </a:xfrm>
          <a:prstGeom prst="rect">
            <a:avLst/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10128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14181D"/>
                </a:solidFill>
                <a:latin typeface="Georgia"/>
              </a:rPr>
              <a:t>0,85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4599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ARI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3200400"/>
            <a:ext cx="2331720" cy="20320"/>
          </a:xfrm>
          <a:prstGeom prst="rect">
            <a:avLst/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3310128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14181D"/>
                </a:solidFill>
                <a:latin typeface="Georgia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74599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NASUMIČNO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59626F"/>
                </a:solidFill>
                <a:latin typeface="Segoe UI"/>
              </a:rPr>
              <a:t>Teme se pre merenja uparuju sa kategorijama Hungarian algoritmom nad matricom konfuzije. NMI i ARI ne traže uparivanje.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9626F"/>
                </a:solidFill>
                <a:latin typeface="Segoe UI"/>
              </a:rPr>
              <a:t>F1 po kategorijama: sport 0,97 · business 0,94 · politics 0,93 · entertainment 0,93 · tech 0,90.</a:t>
            </a:r>
          </a:p>
        </p:txBody>
      </p:sp>
      <p:pic>
        <p:nvPicPr>
          <p:cNvPr id="17" name="Picture 16" descr="novo_cell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4519"/>
            <a:ext cx="4304211" cy="35204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0" y="5532120"/>
            <a:ext cx="4983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626F"/>
                </a:solidFill>
                <a:latin typeface="Consolas"/>
              </a:rPr>
              <a:t>Entertainment i tech dele rečnik oko digitalne muzike i igara, politics i business oko poreza i kamata. Sport je najčistiji, 508 od 511.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0"/>
                </a:solidFill>
                <a:latin typeface="Consolas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72B2"/>
                </a:solidFill>
                <a:latin typeface="Consolas"/>
              </a:rPr>
              <a:t>10</a:t>
            </a:r>
            <a:r>
              <a:rPr sz="1300" b="0" i="0">
                <a:solidFill>
                  <a:srgbClr val="8A93A0"/>
                </a:solidFill>
                <a:latin typeface="Consolas"/>
              </a:rPr>
              <a:t>     PRIMENA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4181D"/>
                </a:solidFill>
                <a:latin typeface="Georgia"/>
              </a:rPr>
              <a:t>Semantička pretraga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9626F"/>
                </a:solidFill>
                <a:latin typeface="Segoe UI"/>
              </a:rPr>
              <a:t>Red matrice H je tema, a kolona je vektor jednog tokena u prostoru tema. Sličnost merimo kosinusom, pa je pretraga jedno množenje matrice vektorom.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880360"/>
            <a:ext cx="1294790" cy="274320"/>
          </a:xfrm>
          <a:prstGeom prst="rect">
            <a:avLst/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mobile 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10128"/>
            <a:ext cx="187063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81D"/>
                </a:solidFill>
                <a:latin typeface="Segoe UI"/>
              </a:rPr>
              <a:t>mobile phones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2153" y="3310128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3A0"/>
                </a:solidFill>
                <a:latin typeface="Consolas"/>
              </a:rPr>
              <a:t>0.999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84448"/>
            <a:ext cx="187063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81D"/>
                </a:solidFill>
                <a:latin typeface="Segoe UI"/>
              </a:rPr>
              <a:t>handset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2153" y="3584448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3A0"/>
                </a:solidFill>
                <a:latin typeface="Consolas"/>
              </a:rPr>
              <a:t>0.997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58768"/>
            <a:ext cx="187063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81D"/>
                </a:solidFill>
                <a:latin typeface="Segoe UI"/>
              </a:rPr>
              <a:t>handsets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2153" y="3858768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3A0"/>
                </a:solidFill>
                <a:latin typeface="Consolas"/>
              </a:rPr>
              <a:t>0.995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33087"/>
            <a:ext cx="187063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81D"/>
                </a:solidFill>
                <a:latin typeface="Segoe UI"/>
              </a:rPr>
              <a:t>messaging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2153" y="4133087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3A0"/>
                </a:solidFill>
                <a:latin typeface="Consolas"/>
              </a:rPr>
              <a:t>0.993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16553" y="2880360"/>
            <a:ext cx="1474012" cy="274320"/>
          </a:xfrm>
          <a:prstGeom prst="rect">
            <a:avLst/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prime minister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6553" y="3310128"/>
            <a:ext cx="187063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81D"/>
                </a:solidFill>
                <a:latin typeface="Segoe UI"/>
              </a:rPr>
              <a:t>third 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1467" y="3310128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3A0"/>
                </a:solidFill>
                <a:latin typeface="Consolas"/>
              </a:rPr>
              <a:t>0.990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6553" y="3584448"/>
            <a:ext cx="187063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81D"/>
                </a:solidFill>
                <a:latin typeface="Segoe UI"/>
              </a:rPr>
              <a:t>allies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1467" y="3584448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3A0"/>
                </a:solidFill>
                <a:latin typeface="Consolas"/>
              </a:rPr>
              <a:t>0.988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6553" y="3858768"/>
            <a:ext cx="187063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81D"/>
                </a:solidFill>
                <a:latin typeface="Segoe UI"/>
              </a:rPr>
              <a:t>blair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1467" y="3858768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3A0"/>
                </a:solidFill>
                <a:latin typeface="Consolas"/>
              </a:rPr>
              <a:t>0.982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6553" y="4133087"/>
            <a:ext cx="187063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81D"/>
                </a:solidFill>
                <a:latin typeface="Segoe UI"/>
              </a:rPr>
              <a:t>brown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1467" y="4133087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3A0"/>
                </a:solidFill>
                <a:latin typeface="Consolas"/>
              </a:rPr>
              <a:t>0.975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5867" y="2880360"/>
            <a:ext cx="1474012" cy="274320"/>
          </a:xfrm>
          <a:prstGeom prst="rect">
            <a:avLst/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interest rates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5867" y="3310128"/>
            <a:ext cx="187063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81D"/>
                </a:solidFill>
                <a:latin typeface="Segoe UI"/>
              </a:rPr>
              <a:t>interest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0781" y="3310128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3A0"/>
                </a:solidFill>
                <a:latin typeface="Consolas"/>
              </a:rPr>
              <a:t>0.989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5867" y="3584448"/>
            <a:ext cx="187063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81D"/>
                </a:solidFill>
                <a:latin typeface="Segoe UI"/>
              </a:rPr>
              <a:t>inflation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0781" y="3584448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3A0"/>
                </a:solidFill>
                <a:latin typeface="Consolas"/>
              </a:rPr>
              <a:t>0.982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5867" y="3858768"/>
            <a:ext cx="187063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81D"/>
                </a:solidFill>
                <a:latin typeface="Segoe UI"/>
              </a:rPr>
              <a:t>manufacturing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0781" y="3858768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3A0"/>
                </a:solidFill>
                <a:latin typeface="Consolas"/>
              </a:rPr>
              <a:t>0.979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5867" y="4133087"/>
            <a:ext cx="187063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81D"/>
                </a:solidFill>
                <a:latin typeface="Segoe UI"/>
              </a:rPr>
              <a:t>chief economist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0781" y="4133087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3A0"/>
                </a:solidFill>
                <a:latin typeface="Consolas"/>
              </a:rPr>
              <a:t>0.977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95181" y="2880360"/>
            <a:ext cx="936345" cy="274320"/>
          </a:xfrm>
          <a:prstGeom prst="rect">
            <a:avLst/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software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95181" y="3310128"/>
            <a:ext cx="187063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81D"/>
                </a:solidFill>
                <a:latin typeface="Segoe UI"/>
              </a:rPr>
              <a:t>programs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3310128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3A0"/>
                </a:solidFill>
                <a:latin typeface="Consolas"/>
              </a:rPr>
              <a:t>0.971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5181" y="3584448"/>
            <a:ext cx="187063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81D"/>
                </a:solidFill>
                <a:latin typeface="Segoe UI"/>
              </a:rPr>
              <a:t>operating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3584448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3A0"/>
                </a:solidFill>
                <a:latin typeface="Consolas"/>
              </a:rPr>
              <a:t>0.966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5181" y="3858768"/>
            <a:ext cx="187063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81D"/>
                </a:solidFill>
                <a:latin typeface="Segoe UI"/>
              </a:rPr>
              <a:t>windows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3858768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3A0"/>
                </a:solidFill>
                <a:latin typeface="Consolas"/>
              </a:rPr>
              <a:t>0.961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95181" y="4133087"/>
            <a:ext cx="187063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81D"/>
                </a:solidFill>
                <a:latin typeface="Segoe UI"/>
              </a:rPr>
              <a:t>anti virus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0095" y="4133087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3A0"/>
                </a:solidFill>
                <a:latin typeface="Consolas"/>
              </a:rPr>
              <a:t>0.954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89204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9626F"/>
                </a:solidFill>
                <a:latin typeface="Segoe UI"/>
              </a:rPr>
              <a:t>Među rezultatima su i sami bigrami: </a:t>
            </a:r>
            <a:r>
              <a:rPr sz="1300" b="0" i="0">
                <a:solidFill>
                  <a:srgbClr val="59626F"/>
                </a:solidFill>
                <a:latin typeface="Consolas"/>
              </a:rPr>
              <a:t>mobile phones</a:t>
            </a:r>
            <a:r>
              <a:rPr sz="1350" b="0" i="0">
                <a:solidFill>
                  <a:srgbClr val="59626F"/>
                </a:solidFill>
                <a:latin typeface="Segoe UI"/>
              </a:rPr>
              <a:t>, </a:t>
            </a:r>
            <a:r>
              <a:rPr sz="1300" b="0" i="0">
                <a:solidFill>
                  <a:srgbClr val="59626F"/>
                </a:solidFill>
                <a:latin typeface="Consolas"/>
              </a:rPr>
              <a:t>operating system</a:t>
            </a:r>
            <a:r>
              <a:rPr sz="1350" b="0" i="0">
                <a:solidFill>
                  <a:srgbClr val="59626F"/>
                </a:solidFill>
                <a:latin typeface="Segoe UI"/>
              </a:rPr>
              <a:t>, </a:t>
            </a:r>
            <a:r>
              <a:rPr sz="1300" b="0" i="0">
                <a:solidFill>
                  <a:srgbClr val="59626F"/>
                </a:solidFill>
                <a:latin typeface="Consolas"/>
              </a:rPr>
              <a:t>anti virus</a:t>
            </a:r>
            <a:r>
              <a:rPr sz="1350" b="0" i="0">
                <a:solidFill>
                  <a:srgbClr val="59626F"/>
                </a:solidFill>
                <a:latin typeface="Segoe UI"/>
              </a:rPr>
              <a:t>, </a:t>
            </a:r>
            <a:r>
              <a:rPr sz="1300" b="0" i="0">
                <a:solidFill>
                  <a:srgbClr val="59626F"/>
                </a:solidFill>
                <a:latin typeface="Consolas"/>
              </a:rPr>
              <a:t>chief economist</a:t>
            </a:r>
            <a:r>
              <a:rPr sz="1350" b="0" i="0">
                <a:solidFill>
                  <a:srgbClr val="59626F"/>
                </a:solidFill>
                <a:latin typeface="Segoe UI"/>
              </a:rPr>
              <a:t>. Za pretragu je k = 5 premalo jer se reči iste teme stope, pa je treniran poseban model sa </a:t>
            </a:r>
            <a:r>
              <a:rPr sz="1350" b="1" i="0">
                <a:solidFill>
                  <a:srgbClr val="59626F"/>
                </a:solidFill>
                <a:latin typeface="Segoe UI"/>
              </a:rPr>
              <a:t>k = 40</a:t>
            </a:r>
            <a:r>
              <a:rPr sz="1350" b="0" i="0">
                <a:solidFill>
                  <a:srgbClr val="59626F"/>
                </a:solidFill>
                <a:latin typeface="Segoe UI"/>
              </a:rPr>
              <a:t>, sa 3.494 kandidata (df ≥ 20) od 12.798 tokena. Kosinus je u [0, 1] i vrednosti su visoke, pa se čitaju kao rang lista, a ne kao apsolutna mera.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0"/>
                </a:solidFill>
                <a:latin typeface="Consolas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72B2"/>
                </a:solidFill>
                <a:latin typeface="Consolas"/>
              </a:rPr>
              <a:t>11</a:t>
            </a:r>
            <a:r>
              <a:rPr sz="1300" b="0" i="0">
                <a:solidFill>
                  <a:srgbClr val="8A93A0"/>
                </a:solidFill>
                <a:latin typeface="Consolas"/>
              </a:rPr>
              <a:t>     ZAKLJUČAK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4181D"/>
                </a:solidFill>
                <a:latin typeface="Georgia"/>
              </a:rPr>
              <a:t>Zaključak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32918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4181D"/>
                </a:solidFill>
                <a:latin typeface="Segoe UI"/>
              </a:rPr>
              <a:t>IMPLEMENTIRANO OD NULE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072B2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tokenizacija sa bigramima iz teksta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072B2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TF-IDF sa filtriranjem rečnika, CSR matrica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072B2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NMF preko multiplikativnih pravila u NumPy-ju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072B2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evaluacija: Hungarian uparivanje, NMI, ARI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072B2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semantička pretraga preko kosinusne sličnosti</a:t>
            </a:r>
          </a:p>
        </p:txBody>
      </p:sp>
      <p:sp>
        <p:nvSpPr>
          <p:cNvPr id="5" name="Rectangle 4"/>
          <p:cNvSpPr/>
          <p:nvPr/>
        </p:nvSpPr>
        <p:spPr>
          <a:xfrm>
            <a:off x="4434840" y="1874519"/>
            <a:ext cx="329184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90872" y="2103120"/>
            <a:ext cx="2779776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4181D"/>
                </a:solidFill>
                <a:latin typeface="Segoe UI"/>
              </a:rPr>
              <a:t>OGRANIČENJA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072B2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k = 5 je zadato unapred, iz broja kategorija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072B2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vreća reči i sa bigramima ostaje bez šireg konteksta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072B2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stop-lista i pragovi važe za engleski i ovaj korpus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072B2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4181D"/>
                </a:solidFill>
                <a:latin typeface="Segoe UI"/>
              </a:rPr>
              <a:t>bigrami uvećavaju rečnik, filtriranje je obavezno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1874519"/>
            <a:ext cx="3291840" cy="2286000"/>
          </a:xfrm>
          <a:prstGeom prst="rect">
            <a:avLst/>
          </a:prstGeom>
          <a:solidFill>
            <a:srgbClr val="E3EEF6"/>
          </a:solidFill>
          <a:ln w="9525">
            <a:solidFill>
              <a:srgbClr val="C6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1" y="2103120"/>
            <a:ext cx="27797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1D"/>
                </a:solidFill>
                <a:latin typeface="Segoe UI"/>
              </a:rPr>
              <a:t>PROVERENO NASPRAM SKLEARN-A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1" y="24871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IMPL.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5751" y="248716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GREŠKA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5872" y="248716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626F"/>
                </a:solidFill>
                <a:latin typeface="Consolas"/>
              </a:rPr>
              <a:t>TAČNOST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8471" y="2761488"/>
            <a:ext cx="2788920" cy="15240"/>
          </a:xfrm>
          <a:prstGeom prst="rect">
            <a:avLst/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28529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81D"/>
                </a:solidFill>
                <a:latin typeface="Segoe UI"/>
              </a:rPr>
              <a:t>naša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5751" y="2852928"/>
            <a:ext cx="960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72B2"/>
                </a:solidFill>
                <a:latin typeface="Segoe UI"/>
              </a:rPr>
              <a:t>0,97000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5872" y="2852928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72B2"/>
                </a:solidFill>
                <a:latin typeface="Segoe UI"/>
              </a:rPr>
              <a:t>93,3%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48471" y="3072384"/>
            <a:ext cx="2788920" cy="9525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315468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81D"/>
                </a:solidFill>
                <a:latin typeface="Segoe UI"/>
              </a:rPr>
              <a:t>sklearn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5751" y="3154680"/>
            <a:ext cx="960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81D"/>
                </a:solidFill>
                <a:latin typeface="Segoe UI"/>
              </a:rPr>
              <a:t>0,96999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5872" y="315468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81D"/>
                </a:solidFill>
                <a:latin typeface="Segoe UI"/>
              </a:rPr>
              <a:t>92,4%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3520440"/>
            <a:ext cx="27797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9626F"/>
                </a:solidFill>
                <a:latin typeface="Segoe UI"/>
              </a:rPr>
              <a:t>Isti dokument svrstavaju u istu temu u 97,7% slučajeva.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0"/>
                </a:solidFill>
                <a:latin typeface="Consola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